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Recursos visuales proporcionados por la autora.
GUIA-DEFENSA-FINAL.md.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GUIA-DEFENSA-FINAL.md, apartados 1 y 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GUIA-DEFENSA-FINAL.md, apartados 2, 5 y 9.
La relación con la comprensión lectora se formula como capacidad trabajada e hipótesis pendiente de validación, no como eficacia demostrada.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Captura proporcionada por la autora.
GUIA-DEFENSA-FINAL.md, apartado 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Capturas proporcionadas por la autora.
GUIA-DEFENSA-FINAL.md, apartado 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Flujo: GUIA-DEFENSA-FINAL.md, apartado 5.
Aplicación pública: https://otorios.github.io/TFM-BigSchool-Master-en-desarrollo-con-IA-E.III/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GUIA-DEFENSA-FINAL.md, apartado 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Reflexión de la autora.
GUIA-DEFENSA-FINAL.md, apartados 3 y 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GUIA-DEFENSA-FINAL.md, apartado 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Capturas proporcionadas por la autora.
GUIA-DEFENSA-FINAL.md, apartado 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Captura del desenlace proporcionada por la autora.
GUIA-DEFENSA-FINAL.md, apartados 8, 9 y 10.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17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3D"/>
          </a:solidFill>
          <a:ln w="12700">
            <a:solidFill>
              <a:srgbClr val="171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47104"/>
            <a:ext cx="11155680" cy="0"/>
          </a:xfrm>
          <a:prstGeom prst="line">
            <a:avLst/>
          </a:prstGeom>
          <a:noFill/>
          <a:ln w="12700">
            <a:solidFill>
              <a:srgbClr val="E3C06E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40" dirty="0">
                <a:solidFill>
                  <a:srgbClr val="E3C06E"/>
                </a:solidFill>
              </a:rPr>
              <a:t>MEMORY QUEST  •  TFM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torios.github.io/TFM-BigSchool-Master-en-desarrollo-con-IA-E.III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ondo-cenefa-estelar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30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0120" y="713232"/>
            <a:ext cx="6583680" cy="5212080"/>
          </a:xfrm>
          <a:prstGeom prst="roundRect">
            <a:avLst>
              <a:gd name="adj" fmla="val 1754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1732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C06E"/>
                </a:solidFill>
              </a:rPr>
              <a:t>TRABAJO FINAL DE MÁSTER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371600" y="157276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1F2"/>
                </a:solidFill>
              </a:rPr>
              <a:t>Memory Quest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399032" y="22677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C06E"/>
                </a:solidFill>
              </a:rPr>
              <a:t>Señal estelar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17320" y="29718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FDBDD"/>
                </a:solidFill>
              </a:rPr>
              <a:t>Una prueba de concepto para aprender astronomía mediante memoria semántica, narrativa e IA como copiloto de desarrollo.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4864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1F2"/>
                </a:solidFill>
              </a:rPr>
              <a:t>Olalla Sánchez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5239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FDBDD"/>
                </a:solidFill>
              </a:rPr>
              <a:t>Máster en Desarrollo con Inteligencia Artificial</a:t>
            </a:r>
            <a:endParaRPr lang="en-US" sz="1100" dirty="0"/>
          </a:p>
        </p:txBody>
      </p:sp>
      <p:pic>
        <p:nvPicPr>
          <p:cNvPr id="11" name="Image 1" descr="/mnt/data/reverso-carta-atl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00000">
            <a:off x="8366760" y="1440180"/>
            <a:ext cx="2606040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EL PUNTO DE PARTIDA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Un problema educativo y una oportunidad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Aprender conceptos aislados dificulta relacionarlos y recordarlos.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337560" cy="4160520"/>
          </a:xfrm>
          <a:prstGeom prst="roundRect">
            <a:avLst>
              <a:gd name="adj" fmla="val 2740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3C06E"/>
                </a:solidFill>
              </a:rPr>
              <a:t>PROBLEMA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276148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F1F2"/>
                </a:solidFill>
              </a:rPr>
              <a:t>?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FDBDD"/>
                </a:solidFill>
              </a:rPr>
              <a:t>Conceptos científicos estudiados de forma aislada.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16552" y="1783080"/>
            <a:ext cx="3337560" cy="4160520"/>
          </a:xfrm>
          <a:prstGeom prst="roundRect">
            <a:avLst>
              <a:gd name="adj" fmla="val 2740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20574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3C06E"/>
                </a:solidFill>
              </a:rPr>
              <a:t>PÚBLICO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85232" y="276148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F1F2"/>
                </a:solidFill>
              </a:rPr>
              <a:t>10–14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736592" y="3977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FDBDD"/>
                </a:solidFill>
              </a:rPr>
              <a:t>Jóvenes de 10 a 14 años.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38744" y="1783080"/>
            <a:ext cx="3337560" cy="4160520"/>
          </a:xfrm>
          <a:prstGeom prst="roundRect">
            <a:avLst>
              <a:gd name="adj" fmla="val 2740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67344" y="20574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3C06E"/>
                </a:solidFill>
              </a:rPr>
              <a:t>OBJETIVO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6148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F1F2"/>
                </a:solidFill>
              </a:rPr>
              <a:t>↔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558784" y="3977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FDBDD"/>
                </a:solidFill>
              </a:rPr>
              <a:t>Aprender astronomía mediante juego, narrativa y asociación.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VALOR EDUCATIVO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Comprensión lectora y memoria semántica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Comprender no es solo reconocer palabras: implica relacionar, interpretar y construir significado.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337560" cy="3611880"/>
          </a:xfrm>
          <a:prstGeom prst="roundRect">
            <a:avLst>
              <a:gd name="adj" fmla="val 2740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25696" y="1783080"/>
            <a:ext cx="3337560" cy="3611880"/>
          </a:xfrm>
          <a:prstGeom prst="roundRect">
            <a:avLst>
              <a:gd name="adj" fmla="val 2740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11312" y="1783080"/>
            <a:ext cx="3337560" cy="3611880"/>
          </a:xfrm>
          <a:prstGeom prst="roundRect">
            <a:avLst>
              <a:gd name="adj" fmla="val 2740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47088" y="221284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C06E"/>
                </a:solidFill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4F1F2"/>
                </a:solidFill>
              </a:rPr>
              <a:t>RELACIONAR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FDBDD"/>
                </a:solidFill>
              </a:rPr>
              <a:t>Vincular un concepto astronómico con una definición breve.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32704" y="221284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C06E"/>
                </a:solidFill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36592" y="3017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4F1F2"/>
                </a:solidFill>
              </a:rPr>
              <a:t>INTERPRETAR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82312" y="3703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FDBDD"/>
                </a:solidFill>
              </a:rPr>
              <a:t>Leer la pista y distinguirla de conceptos cercanos.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18320" y="221284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C06E"/>
                </a:solidFill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76488" y="294436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60" dirty="0">
                <a:solidFill>
                  <a:srgbClr val="F4F1F2"/>
                </a:solidFill>
              </a:rPr>
              <a:t>CONSTRUIR SIGNIFICADO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67928" y="3703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FDBDD"/>
                </a:solidFill>
              </a:rPr>
              <a:t>Integrar vocabulario científico, imagen y contexto narrativo.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LA PROPUESTA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Del emparejamiento visual a la memoria semántica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La mecánica exige comprender la relación entre término y definición.</a:t>
            </a:r>
            <a:endParaRPr lang="en-US" sz="1200" dirty="0"/>
          </a:p>
        </p:txBody>
      </p:sp>
      <p:pic>
        <p:nvPicPr>
          <p:cNvPr id="5" name="Image 0" descr="/mnt/data/02-pareja-nebulosa-correcta.png"/>
          <p:cNvPicPr>
            <a:picLocks noChangeAspect="1"/>
          </p:cNvPicPr>
          <p:nvPr/>
        </p:nvPicPr>
        <p:blipFill>
          <a:blip r:embed="rId3"/>
          <a:srcRect l="4843" r="4843"/>
          <a:stretch/>
        </p:blipFill>
        <p:spPr>
          <a:xfrm>
            <a:off x="594360" y="1783080"/>
            <a:ext cx="690372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78308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8388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3C06E"/>
                </a:solidFill>
              </a:rPr>
              <a:t>NEBULOSA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8388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F1F2"/>
                </a:solidFill>
              </a:rPr>
              <a:t>Imagen + nombre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098280" y="3246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C06E"/>
                </a:solidFill>
              </a:rPr>
              <a:t>↕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183880" y="3730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F1F2"/>
                </a:solidFill>
              </a:rPr>
              <a:t>Definición breve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183880" y="464515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FDBDD"/>
                </a:solidFill>
              </a:rPr>
              <a:t>Memoria visual + lectura + comprensión semántica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PROGRESIÓN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Una misión en tres capítulos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La dificultad crece mediante el tablero y la complejidad conceptual.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3456432" cy="4498848"/>
          </a:xfrm>
          <a:prstGeom prst="roundRect">
            <a:avLst>
              <a:gd name="adj" fmla="val 2646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/mnt/data/03-nivel-1-observacion.png"/>
          <p:cNvPicPr>
            <a:picLocks noChangeAspect="1"/>
          </p:cNvPicPr>
          <p:nvPr/>
        </p:nvPicPr>
        <p:blipFill>
          <a:blip r:embed="rId3"/>
          <a:srcRect l="4867" r="4867"/>
          <a:stretch/>
        </p:blipFill>
        <p:spPr>
          <a:xfrm>
            <a:off x="722376" y="1901952"/>
            <a:ext cx="3200400" cy="19933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4114800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1F2"/>
                </a:solidFill>
              </a:rPr>
              <a:t>1. Una voz entre las estrellas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7365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C06E"/>
                </a:solidFill>
              </a:rPr>
              <a:t>4 parejas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24865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Comunicaciones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6552" y="1755648"/>
            <a:ext cx="3456432" cy="4498848"/>
          </a:xfrm>
          <a:prstGeom prst="roundRect">
            <a:avLst>
              <a:gd name="adj" fmla="val 2646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1" name="Image 1" descr="/mnt/data/05-tablero-nivel-2.png"/>
          <p:cNvPicPr>
            <a:picLocks noChangeAspect="1"/>
          </p:cNvPicPr>
          <p:nvPr/>
        </p:nvPicPr>
        <p:blipFill>
          <a:blip r:embed="rId4"/>
          <a:srcRect l="4867" r="4867"/>
          <a:stretch/>
        </p:blipFill>
        <p:spPr>
          <a:xfrm>
            <a:off x="4544568" y="1901952"/>
            <a:ext cx="3200400" cy="19933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4114800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1F2"/>
                </a:solidFill>
              </a:rPr>
              <a:t>2. Las semillas de la Tierra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47365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C06E"/>
                </a:solidFill>
              </a:rPr>
              <a:t>6 parejas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599432" y="524865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Protección de LURRA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38744" y="1755648"/>
            <a:ext cx="3456432" cy="4498848"/>
          </a:xfrm>
          <a:prstGeom prst="roundRect">
            <a:avLst>
              <a:gd name="adj" fmla="val 2646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6" name="Image 2" descr="/mnt/data/06-tablero-nivel-3.png"/>
          <p:cNvPicPr>
            <a:picLocks noChangeAspect="1"/>
          </p:cNvPicPr>
          <p:nvPr/>
        </p:nvPicPr>
        <p:blipFill>
          <a:blip r:embed="rId5"/>
          <a:srcRect l="4867" r="4867"/>
          <a:stretch/>
        </p:blipFill>
        <p:spPr>
          <a:xfrm>
            <a:off x="8366760" y="1901952"/>
            <a:ext cx="3200400" cy="19933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4114800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1F2"/>
                </a:solidFill>
              </a:rPr>
              <a:t>3. El camino a casa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21624" y="47365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C06E"/>
                </a:solidFill>
              </a:rPr>
              <a:t>8 parejas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421624" y="524865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Navegación y propulsión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EXPERIENCIA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Cómo funciona una partida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Observar, relacionar, reparar y avanzar en la historia.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938528" cy="3246120"/>
          </a:xfrm>
          <a:prstGeom prst="roundRect">
            <a:avLst>
              <a:gd name="adj" fmla="val 471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0432" y="2075688"/>
            <a:ext cx="731520" cy="731520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221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A3D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4944" y="30449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Observar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37947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Las cartas se muestran antes de empezar.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51176" y="299923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C06E"/>
                </a:solidFill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880360" y="1828800"/>
            <a:ext cx="1938528" cy="3246120"/>
          </a:xfrm>
          <a:prstGeom prst="roundRect">
            <a:avLst>
              <a:gd name="adj" fmla="val 471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83864" y="2075688"/>
            <a:ext cx="731520" cy="731520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2221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A3D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08376" y="30449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Relacionar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63240" y="37947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Concepto e imagen con su pista correcta.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299923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C06E"/>
                </a:solidFill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193792" y="1828800"/>
            <a:ext cx="1938528" cy="3246120"/>
          </a:xfrm>
          <a:prstGeom prst="roundRect">
            <a:avLst>
              <a:gd name="adj" fmla="val 4717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97296" y="2075688"/>
            <a:ext cx="731520" cy="731520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7296" y="2221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A3D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21808" y="30449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Gestionar energía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376672" y="37947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Cada error resta 2 puntos; hay seis fallos.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8040" y="299923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C06E"/>
                </a:solidFill>
              </a:rPr>
              <a:t>›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7507224" y="1828800"/>
            <a:ext cx="1938528" cy="3246120"/>
          </a:xfrm>
          <a:prstGeom prst="roundRect">
            <a:avLst>
              <a:gd name="adj" fmla="val 471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0728" y="2075688"/>
            <a:ext cx="731520" cy="731520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2221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A3D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35240" y="30449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Reparar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690104" y="37947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Cada acierto avanza el módulo de la nave.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91472" y="299923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C06E"/>
                </a:solidFill>
              </a:rPr>
              <a:t>›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9820656" y="1828800"/>
            <a:ext cx="1938528" cy="3246120"/>
          </a:xfrm>
          <a:prstGeom prst="roundRect">
            <a:avLst>
              <a:gd name="adj" fmla="val 471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24160" y="2075688"/>
            <a:ext cx="731520" cy="731520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0" y="2221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A3D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48672" y="30449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Continuar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003536" y="37947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El progreso conecta los tres capítulos.</a:t>
            </a:r>
            <a:endParaRPr lang="en-US" sz="1200" dirty="0"/>
          </a:p>
        </p:txBody>
      </p:sp>
      <p:sp>
        <p:nvSpPr>
          <p:cNvPr id="34" name="Text 32">
            <a:hlinkClick r:id="rId3"/>
          </p:cNvPr>
          <p:cNvSpPr/>
          <p:nvPr/>
        </p:nvSpPr>
        <p:spPr>
          <a:xfrm>
            <a:off x="3794760" y="5394960"/>
            <a:ext cx="4617720" cy="502920"/>
          </a:xfrm>
          <a:prstGeom prst="rect">
            <a:avLst/>
          </a:prstGeom>
          <a:solidFill>
            <a:srgbClr val="E3C06E"/>
          </a:solidFill>
          <a:ln>
            <a:solidFill>
              <a:srgbClr val="E3C0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171A3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Comenzar la aventura de Memory Quest</a:t>
            </a:r>
            <a:endParaRPr lang="en-US" sz="1600" dirty="0"/>
          </a:p>
        </p:txBody>
      </p:sp>
      <p:sp>
        <p:nvSpPr>
          <p:cNvPr id="35" name="Text 33">
            <a:hlinkClick r:id="rId3"/>
          </p:cNvPr>
          <p:cNvSpPr/>
          <p:nvPr/>
        </p:nvSpPr>
        <p:spPr>
          <a:xfrm>
            <a:off x="2971800" y="5989320"/>
            <a:ext cx="626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DFDBD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otorios.github.io/TFM-BigSchool-Master-en-desarrollo-con-IA-E.III/</a:t>
            </a:r>
            <a:endParaRPr lang="en-US" sz="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PRUEBA DE CONCEPTO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Una arquitectura pequeña, modular y ampliable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La aplicación está publicada en GitHub Pages y se ejecuta en el navegador.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402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Interfaz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6791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C06E"/>
                </a:solidFill>
              </a:rPr>
              <a:t>ui.js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32888" y="23317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C06E"/>
                </a:solidFill>
              </a:rPr>
              <a:t>→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2926080" y="199339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44952" y="22402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Coordinación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44952" y="26791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C06E"/>
                </a:solidFill>
              </a:rPr>
              <a:t>main.js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23317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C06E"/>
                </a:solidFill>
              </a:rPr>
              <a:t>→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5193792" y="199339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12664" y="22402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Reglas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12664" y="26791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C06E"/>
                </a:solidFill>
              </a:rPr>
              <a:t>game.js + state.js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68312" y="23317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C06E"/>
                </a:solidFill>
              </a:rPr>
              <a:t>→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7461504" y="199339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0376" y="22402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Contenido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80376" y="26791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C06E"/>
                </a:solidFill>
              </a:rPr>
              <a:t>chapters.js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36024" y="23317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C06E"/>
                </a:solidFill>
              </a:rPr>
              <a:t>→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9729216" y="199339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48088" y="22402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Progreso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48088" y="26791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C06E"/>
                </a:solidFill>
              </a:rPr>
              <a:t>storage.js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4F1F2"/>
                </a:solidFill>
              </a:rPr>
              <a:t>Aplicación web estática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1097280" y="4498848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GitHub Pages sirve los archivos y el navegador ejecuta HTML, CSS y JavaScript.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502920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C06E"/>
                </a:solidFill>
              </a:rPr>
              <a:t>Sin backend  •  sin base de datos remota  •  progreso en localStorage  •  sin API de IA durante la partida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26680" y="3730752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01000" y="40050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E3C06E"/>
                </a:solidFill>
              </a:rPr>
              <a:t>STACK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01000" y="44074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1F2"/>
                </a:solidFill>
              </a:rPr>
              <a:t>HTML5  •  CSS  •  JavaScript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F1F2"/>
                </a:solidFill>
              </a:rPr>
              <a:t>Vite  •  localStorage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F1F2"/>
                </a:solidFill>
              </a:rPr>
              <a:t>GitHub Actions  •  GitHub Pages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APRENDIZAJE DEL MÁSTER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La IA como copiloto de desarrollo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Acelerar la ejecución sin ceder el mando ni el criterio.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10312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3C06E"/>
                </a:solidFill>
              </a:rPr>
              <a:t>PLANIFICACIÓN HUMANA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761488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2670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Problema y público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3374136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5024" y="32826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Mecánica educativa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3986784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5024" y="3895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Narrativa y alcance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4599432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5024" y="4507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Documentación sólida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1810512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210312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3C06E"/>
                </a:solidFill>
              </a:rPr>
              <a:t>ACELERACIÓN CON 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28032" y="2761488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2670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Alternativas y prototipado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28032" y="3374136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32826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Apoyo a programación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28032" y="3986784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57216" y="3895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Documentación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28032" y="4599432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4507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Revisión y calidad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02752" y="1810512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31352" y="210312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3C06E"/>
                </a:solidFill>
              </a:rPr>
              <a:t>SUPERVISIÓN HUMANA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50224" y="2761488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79408" y="2670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Evaluar propuestas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50224" y="3374136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79408" y="32826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Ajustar y descartar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50224" y="3986784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79408" y="3895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Probar el resultado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650224" y="4599432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79408" y="4507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Detectar mejoras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34440" y="574243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Planificación sólida + IA + revisión = prueba de concepto funcional en menos tiempo</a:t>
            </a:r>
            <a:endParaRPr lang="en-US" sz="17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CRITERIO DE PRODUCTO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De una idea amplia a un MVP funcional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Cuatro decisiones para controlar el alcance y completar la experiencia.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066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3C06E"/>
                </a:solidFill>
              </a:rPr>
              <a:t>ALCANCE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5420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1F2"/>
                </a:solidFill>
              </a:rPr>
              <a:t>Una temática completa antes que varias incompletas.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81928" y="1810512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2066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3C06E"/>
                </a:solidFill>
              </a:rPr>
              <a:t>DIFICULTAD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6248" y="25420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1F2"/>
                </a:solidFill>
              </a:rPr>
              <a:t>Progresión clara mediante 4, 6 y 8 parejas.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3867912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41239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3C06E"/>
                </a:solidFill>
              </a:rPr>
              <a:t>CONTENIDO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45994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1F2"/>
                </a:solidFill>
              </a:rPr>
              <a:t>Pistas breves para garantizar legibilidad y comprensión.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81928" y="3867912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41239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3C06E"/>
                </a:solidFill>
              </a:rPr>
              <a:t>ARQUITECTURA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56248" y="45994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1F2"/>
                </a:solidFill>
              </a:rPr>
              <a:t>Un único motor reutilizable para los tres capítulos.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RESULTADOS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Una prueba de concepto funcional, probada y desplegada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Evidencias del producto y del proceso técnico.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993392" cy="1078992"/>
          </a:xfrm>
          <a:prstGeom prst="roundRect">
            <a:avLst>
              <a:gd name="adj" fmla="val 847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9019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C06E"/>
                </a:solidFill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04088" y="23957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FDBDD"/>
                </a:solidFill>
              </a:rPr>
              <a:t>capítulos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61488" y="1755648"/>
            <a:ext cx="1993392" cy="1078992"/>
          </a:xfrm>
          <a:prstGeom prst="roundRect">
            <a:avLst>
              <a:gd name="adj" fmla="val 847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71216" y="19019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C06E"/>
                </a:solidFill>
              </a:rPr>
              <a:t>18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71216" y="23957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FDBDD"/>
                </a:solidFill>
              </a:rPr>
              <a:t>parejas educativas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1755648"/>
            <a:ext cx="1993392" cy="1078992"/>
          </a:xfrm>
          <a:prstGeom prst="roundRect">
            <a:avLst>
              <a:gd name="adj" fmla="val 847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38344" y="19019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C06E"/>
                </a:solidFill>
              </a:rPr>
              <a:t>36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38344" y="23957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FDBDD"/>
                </a:solidFill>
              </a:rPr>
              <a:t>cartas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95744" y="1755648"/>
            <a:ext cx="1993392" cy="1078992"/>
          </a:xfrm>
          <a:prstGeom prst="roundRect">
            <a:avLst>
              <a:gd name="adj" fmla="val 847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05472" y="19019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C06E"/>
                </a:solidFill>
              </a:rPr>
              <a:t>12/12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05472" y="23957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FDBDD"/>
                </a:solidFill>
              </a:rPr>
              <a:t>tests superados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62872" y="1755648"/>
            <a:ext cx="1993392" cy="1078992"/>
          </a:xfrm>
          <a:prstGeom prst="roundRect">
            <a:avLst>
              <a:gd name="adj" fmla="val 847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72600" y="19019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C06E"/>
                </a:solidFill>
              </a:rPr>
              <a:t>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72600" y="23957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FDBDD"/>
                </a:solidFill>
              </a:rPr>
              <a:t>vulnerabilidades conocidas</a:t>
            </a:r>
            <a:endParaRPr lang="en-US" sz="1000" dirty="0"/>
          </a:p>
        </p:txBody>
      </p:sp>
      <p:pic>
        <p:nvPicPr>
          <p:cNvPr id="20" name="Image 0" descr="/mnt/data/10-resultado-tests.png"/>
          <p:cNvPicPr>
            <a:picLocks noChangeAspect="1"/>
          </p:cNvPicPr>
          <p:nvPr/>
        </p:nvPicPr>
        <p:blipFill>
          <a:blip r:embed="rId3"/>
          <a:srcRect t="10056" b="10056"/>
          <a:stretch/>
        </p:blipFill>
        <p:spPr>
          <a:xfrm>
            <a:off x="594360" y="3218688"/>
            <a:ext cx="5394960" cy="2423160"/>
          </a:xfrm>
          <a:prstGeom prst="rect">
            <a:avLst/>
          </a:prstGeom>
        </p:spPr>
      </p:pic>
      <p:pic>
        <p:nvPicPr>
          <p:cNvPr id="21" name="Image 1" descr="/mnt/data/09-github-actions-verde.png"/>
          <p:cNvPicPr>
            <a:picLocks noChangeAspect="1"/>
          </p:cNvPicPr>
          <p:nvPr/>
        </p:nvPicPr>
        <p:blipFill>
          <a:blip r:embed="rId4"/>
          <a:srcRect t="10056" b="10056"/>
          <a:stretch/>
        </p:blipFill>
        <p:spPr>
          <a:xfrm>
            <a:off x="6199632" y="3218688"/>
            <a:ext cx="5394960" cy="24231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9808" y="5751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C06E"/>
                </a:solidFill>
              </a:rPr>
              <a:t>Pruebas automatizadas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355080" y="57515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C06E"/>
                </a:solidFill>
              </a:rPr>
              <a:t>Integración y despliegue continuo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ondo-cenefa-estelar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30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640080"/>
            <a:ext cx="4800600" cy="5577840"/>
          </a:xfrm>
          <a:prstGeom prst="roundRect">
            <a:avLst>
              <a:gd name="adj" fmla="val 190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60120" y="9875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C06E"/>
                </a:solidFill>
              </a:rPr>
              <a:t>CONCLUSIÓN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32688" y="146304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4F1F2"/>
                </a:solidFill>
              </a:rPr>
              <a:t>Una idea validada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4F1F2"/>
                </a:solidFill>
              </a:rPr>
              <a:t>con criterio humano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960120" y="27889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FDBDD"/>
                </a:solidFill>
              </a:rPr>
              <a:t>La IA aceleró la ejecución, pero la planificación, las decisiones y la validación permanecieron bajo control humano.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050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3C06E"/>
                </a:solidFill>
              </a:rPr>
              <a:t>LO VALIDADO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8408" y="440740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FDBDD"/>
                </a:solidFill>
              </a:rPr>
              <a:t>• Mecánica semántica funcional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FDBDD"/>
                </a:solidFill>
              </a:rPr>
              <a:t>• Tres capítulos completos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FDBDD"/>
                </a:solidFill>
              </a:rPr>
              <a:t>• Aplicación probada y desplegada</a:t>
            </a:r>
            <a:endParaRPr lang="en-US" sz="1300" dirty="0"/>
          </a:p>
        </p:txBody>
      </p:sp>
      <p:pic>
        <p:nvPicPr>
          <p:cNvPr id="10" name="Image 1" descr="/mnt/data/08-pantalla-final-desenlace.png"/>
          <p:cNvPicPr>
            <a:picLocks noChangeAspect="1"/>
          </p:cNvPicPr>
          <p:nvPr/>
        </p:nvPicPr>
        <p:blipFill>
          <a:blip r:embed="rId4"/>
          <a:srcRect l="13195" r="13195"/>
          <a:stretch/>
        </p:blipFill>
        <p:spPr>
          <a:xfrm>
            <a:off x="5715000" y="749808"/>
            <a:ext cx="5806440" cy="4434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0" y="5303520"/>
            <a:ext cx="5806440" cy="786384"/>
          </a:xfrm>
          <a:prstGeom prst="roundRect">
            <a:avLst>
              <a:gd name="adj" fmla="val 11628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89320" y="546811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E3C06E"/>
                </a:solidFill>
              </a:rPr>
              <a:t>EJEMPLO DE UNO DE LOS TRES DESENLACES POSIBLES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989320" y="5742432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FDBDD"/>
                </a:solidFill>
              </a:rPr>
              <a:t>El resultado depende de la energía conservada durante los tres capítulos.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58064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C06E"/>
                </a:solidFill>
              </a:rPr>
              <a:t>Siguiente paso: probar con usuarios y medir comprensión, retención y dificultad.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Olalla Sánchez Lucio</dc:creator>
  <cp:lastModifiedBy>Olalla Sánchez Lucio</cp:lastModifiedBy>
  <cp:revision>2</cp:revision>
  <dcterms:created xsi:type="dcterms:W3CDTF">2026-10-21T19:36:14Z</dcterms:created>
  <dcterms:modified xsi:type="dcterms:W3CDTF">2026-10-21T19:42:00Z</dcterms:modified>
</cp:coreProperties>
</file>